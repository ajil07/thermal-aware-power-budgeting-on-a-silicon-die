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5943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DE5B19"/>
                </a:solidFill>
                <a:latin typeface="Aptos"/>
              </a:rPr>
              <a:t>CAPSTONE FIRST DRAFT / ZEROTH REVIEW • GROUP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78992"/>
            <a:ext cx="6903720" cy="1261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Georgia"/>
              </a:rPr>
              <a:t>Thermal-Aware Power
Budgeting on a Silicon Die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658368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BECAD8"/>
                </a:solidFill>
                <a:latin typeface="Aptos"/>
              </a:rPr>
              <a:t>Problem A | PDEs, Transforms &amp; Optimization | S3 EC | Team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6080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DE5B19"/>
                </a:solidFill>
                <a:latin typeface="Aptos"/>
              </a:rPr>
              <a:t>PROBLEM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364992"/>
            <a:ext cx="6537960" cy="1938528"/>
          </a:xfrm>
          <a:prstGeom prst="roundRect">
            <a:avLst>
              <a:gd name="adj" fmla="val 12000"/>
            </a:avLst>
          </a:prstGeom>
          <a:solidFill>
            <a:srgbClr val="192A40"/>
          </a:solidFill>
          <a:ln>
            <a:solidFill>
              <a:srgbClr val="31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511296"/>
            <a:ext cx="61447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80" b="1">
                <a:solidFill>
                  <a:srgbClr val="DE5B19"/>
                </a:solidFill>
                <a:latin typeface="Aptos"/>
              </a:rPr>
              <a:t>DOMAIN  </a:t>
            </a:r>
            <a:r>
              <a:rPr sz="980" b="0">
                <a:solidFill>
                  <a:srgbClr val="FFFFFF"/>
                </a:solidFill>
                <a:latin typeface="Aptos"/>
              </a:rPr>
              <a:t>10 mm × 10 mm silicon die; k = 150 W/(m·K); 40 × 40 mesh.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931920"/>
            <a:ext cx="61447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80" b="1">
                <a:solidFill>
                  <a:srgbClr val="DE5B19"/>
                </a:solidFill>
                <a:latin typeface="Aptos"/>
              </a:rPr>
              <a:t>CORES  </a:t>
            </a:r>
            <a:r>
              <a:rPr sz="980" b="0">
                <a:solidFill>
                  <a:srgbClr val="FFFFFF"/>
                </a:solidFill>
                <a:latin typeface="Aptos"/>
              </a:rPr>
              <a:t>4 active nodes: (10,10), (10,29), (29,10), (29,29).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352544"/>
            <a:ext cx="61447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80" b="1">
                <a:solidFill>
                  <a:srgbClr val="DE5B19"/>
                </a:solidFill>
                <a:latin typeface="Aptos"/>
              </a:rPr>
              <a:t>BOUNDARY  </a:t>
            </a:r>
            <a:r>
              <a:rPr sz="980" b="0">
                <a:solidFill>
                  <a:srgbClr val="FFFFFF"/>
                </a:solidFill>
                <a:latin typeface="Aptos"/>
              </a:rPr>
              <a:t>Dirichlet heat-sink boundary: T_amb = 300 K on all edges.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773168"/>
            <a:ext cx="61447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80" b="1">
                <a:solidFill>
                  <a:srgbClr val="DE5B19"/>
                </a:solidFill>
                <a:latin typeface="Aptos"/>
              </a:rPr>
              <a:t>OBJECTIVE  </a:t>
            </a:r>
            <a:r>
              <a:rPr sz="980" b="0">
                <a:solidFill>
                  <a:srgbClr val="FFFFFF"/>
                </a:solidFill>
                <a:latin typeface="Aptos"/>
              </a:rPr>
              <a:t>Choose q = [q₁,q₂,q₃,q₄] to minimize peak chip temperature.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22976"/>
            <a:ext cx="9144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DE5B19"/>
                </a:solidFill>
                <a:latin typeface="Aptos"/>
              </a:rPr>
              <a:t>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5504688"/>
            <a:ext cx="61264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Aarsha B Lekshmi  •  Ajil Reji  •  Anagh Prasad  •  Ashwin Nelson  •  Denin Thomas Jacob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024128"/>
            <a:ext cx="3639312" cy="1298448"/>
          </a:xfrm>
          <a:prstGeom prst="roundRect">
            <a:avLst>
              <a:gd name="adj" fmla="val 12000"/>
            </a:avLst>
          </a:prstGeom>
          <a:solidFill>
            <a:srgbClr val="DE5B19"/>
          </a:solidFill>
          <a:ln>
            <a:solidFill>
              <a:srgbClr val="DE5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1207008"/>
            <a:ext cx="3154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150 W/(m·K)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655064"/>
            <a:ext cx="31546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Silicon thermal conductivity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505456"/>
            <a:ext cx="3639312" cy="1298448"/>
          </a:xfrm>
          <a:prstGeom prst="roundRect">
            <a:avLst>
              <a:gd name="adj" fmla="val 12000"/>
            </a:avLst>
          </a:prstGeom>
          <a:solidFill>
            <a:srgbClr val="DE5B19"/>
          </a:solidFill>
          <a:ln>
            <a:solidFill>
              <a:srgbClr val="DE5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688336"/>
            <a:ext cx="3154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ΔT ≥ 5 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136392"/>
            <a:ext cx="31546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Target hotspot reduction
343 K uniform → ~327 K LP-optimal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3986784"/>
            <a:ext cx="3639312" cy="1298448"/>
          </a:xfrm>
          <a:prstGeom prst="roundRect">
            <a:avLst>
              <a:gd name="adj" fmla="val 12000"/>
            </a:avLst>
          </a:prstGeom>
          <a:solidFill>
            <a:srgbClr val="DE5B19"/>
          </a:solidFill>
          <a:ln>
            <a:solidFill>
              <a:srgbClr val="DE5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4169664"/>
            <a:ext cx="3154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5 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617720"/>
            <a:ext cx="31546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Total power budget ceiling
P_max over 4 cores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5440680"/>
            <a:ext cx="3639312" cy="658368"/>
          </a:xfrm>
          <a:prstGeom prst="roundRect">
            <a:avLst>
              <a:gd name="adj" fmla="val 12000"/>
            </a:avLst>
          </a:prstGeom>
          <a:solidFill>
            <a:srgbClr val="192A40"/>
          </a:solidFill>
          <a:ln>
            <a:solidFill>
              <a:srgbClr val="31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36992" y="5596128"/>
            <a:ext cx="3246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q = [q₁, q₂, q₃, q₄]  |  Σqᵢ ≤ 5 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6473952"/>
            <a:ext cx="8686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BECAD8"/>
                </a:solidFill>
                <a:latin typeface="Aptos"/>
              </a:rPr>
              <a:t>Saintgits College of Engineering • October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44200" y="6473952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BECAD8"/>
                </a:solidFill>
                <a:latin typeface="Aptos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11480"/>
            <a:ext cx="107899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1B2B3E"/>
                </a:solidFill>
                <a:latin typeface="Georgia"/>
              </a:rPr>
              <a:t>Six Modules, One Chain, Five Owners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9264"/>
            <a:ext cx="10515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B6C7E"/>
                </a:solidFill>
                <a:latin typeface="Aptos"/>
              </a:rPr>
              <a:t>The mathematical pipeline is split into six explicit handoff modules.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89888"/>
            <a:ext cx="31546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517904"/>
            <a:ext cx="282549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DE5B19"/>
                </a:solidFill>
                <a:latin typeface="Aptos"/>
              </a:rPr>
              <a:t>M1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728216"/>
            <a:ext cx="28254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B2B3E"/>
                </a:solidFill>
                <a:latin typeface="Aptos"/>
              </a:rPr>
              <a:t>Field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039112"/>
            <a:ext cx="282549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D6CA6"/>
                </a:solidFill>
                <a:latin typeface="Aptos"/>
              </a:rPr>
              <a:t>Vector Calculus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331720"/>
            <a:ext cx="282549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1B2B3E"/>
                </a:solidFill>
                <a:latin typeface="Aptos"/>
              </a:rPr>
              <a:t>Aarsha B Lekshmi | Vector Calculus (S2)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295144"/>
            <a:ext cx="281635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>
                <a:solidFill>
                  <a:srgbClr val="1B2B3E"/>
                </a:solidFill>
                <a:latin typeface="Aptos"/>
              </a:rPr>
              <a:t>Fourier: q = −k∇T
Energy balance: ∇·q = 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59936" y="1389888"/>
            <a:ext cx="31546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24528" y="1517904"/>
            <a:ext cx="282549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DE5B19"/>
                </a:solidFill>
                <a:latin typeface="Aptos"/>
              </a:rPr>
              <a:t>M2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1728216"/>
            <a:ext cx="28254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B2B3E"/>
                </a:solidFill>
                <a:latin typeface="Aptos"/>
              </a:rPr>
              <a:t>PDE formulation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2039112"/>
            <a:ext cx="282549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D6CA6"/>
                </a:solidFill>
                <a:latin typeface="Aptos"/>
              </a:rPr>
              <a:t>PDEs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331720"/>
            <a:ext cx="282549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1B2B3E"/>
                </a:solidFill>
                <a:latin typeface="Aptos"/>
              </a:rPr>
              <a:t>Aarsha B Lekshmi | PDEs (S3)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2295144"/>
            <a:ext cx="281635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>
                <a:solidFill>
                  <a:srgbClr val="1B2B3E"/>
                </a:solidFill>
                <a:latin typeface="Aptos"/>
              </a:rPr>
              <a:t>∇²T = −Q/k
T = 300 K on all edges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389888"/>
            <a:ext cx="31546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71231" y="1517904"/>
            <a:ext cx="282549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DE5B19"/>
                </a:solidFill>
                <a:latin typeface="Aptos"/>
              </a:rPr>
              <a:t>M3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1" y="1728216"/>
            <a:ext cx="28254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B2B3E"/>
                </a:solidFill>
                <a:latin typeface="Aptos"/>
              </a:rPr>
              <a:t>Transform 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1" y="2039112"/>
            <a:ext cx="282549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D6CA6"/>
                </a:solidFill>
                <a:latin typeface="Aptos"/>
              </a:rPr>
              <a:t>Laplace Transforms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1" y="2331720"/>
            <a:ext cx="282549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1B2B3E"/>
                </a:solidFill>
                <a:latin typeface="Aptos"/>
              </a:rPr>
              <a:t>Ajil Reji | Laplace Transforms (S3)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1" y="2295144"/>
            <a:ext cx="281635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>
                <a:solidFill>
                  <a:srgbClr val="1B2B3E"/>
                </a:solidFill>
                <a:latin typeface="Aptos"/>
              </a:rPr>
              <a:t>Z_th(s) = ΔT(s)/P(s)
DC limit s → 0 → thermal resistance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2971800"/>
            <a:ext cx="31546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099816"/>
            <a:ext cx="282549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DE5B19"/>
                </a:solidFill>
                <a:latin typeface="Aptos"/>
              </a:rPr>
              <a:t>M4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310128"/>
            <a:ext cx="28254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B2B3E"/>
                </a:solidFill>
                <a:latin typeface="Aptos"/>
              </a:rPr>
              <a:t>Discretization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621024"/>
            <a:ext cx="282549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D6CA6"/>
                </a:solidFill>
                <a:latin typeface="Aptos"/>
              </a:rPr>
              <a:t>Linear Algebra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3913632"/>
            <a:ext cx="282549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1B2B3E"/>
                </a:solidFill>
                <a:latin typeface="Aptos"/>
              </a:rPr>
              <a:t>Anagh Prasad | Linear Algebra (S1)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3877056"/>
            <a:ext cx="281635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>
                <a:solidFill>
                  <a:srgbClr val="1B2B3E"/>
                </a:solidFill>
                <a:latin typeface="Aptos"/>
              </a:rPr>
              <a:t>40×40 mesh → 5-point FDM
Sparse system A T = q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59936" y="2971800"/>
            <a:ext cx="31546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24528" y="3099816"/>
            <a:ext cx="282549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DE5B19"/>
                </a:solidFill>
                <a:latin typeface="Aptos"/>
              </a:rPr>
              <a:t>M5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24528" y="3310128"/>
            <a:ext cx="28254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B2B3E"/>
                </a:solidFill>
                <a:latin typeface="Aptos"/>
              </a:rPr>
              <a:t>LP power allocation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24528" y="3621024"/>
            <a:ext cx="282549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D6CA6"/>
                </a:solidFill>
                <a:latin typeface="Aptos"/>
              </a:rPr>
              <a:t>Linear Programming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4528" y="3913632"/>
            <a:ext cx="282549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1B2B3E"/>
                </a:solidFill>
                <a:latin typeface="Aptos"/>
              </a:rPr>
              <a:t>Ashwin Nelson | Optimization (S3)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3877056"/>
            <a:ext cx="281635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>
                <a:solidFill>
                  <a:srgbClr val="1B2B3E"/>
                </a:solidFill>
                <a:latin typeface="Aptos"/>
              </a:rPr>
              <a:t>min t s.t. A T = q; Tᵢ ≤ t;
Σqᵢ ≤ P_max; q ≥ 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640" y="2971800"/>
            <a:ext cx="31546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71231" y="3099816"/>
            <a:ext cx="282549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DE5B19"/>
                </a:solidFill>
                <a:latin typeface="Aptos"/>
              </a:rPr>
              <a:t>M6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71231" y="3310128"/>
            <a:ext cx="28254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B2B3E"/>
                </a:solidFill>
                <a:latin typeface="Aptos"/>
              </a:rPr>
              <a:t>Pipeline + 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71231" y="3621024"/>
            <a:ext cx="282549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D6CA6"/>
                </a:solidFill>
                <a:latin typeface="Aptos"/>
              </a:rPr>
              <a:t>Python Lab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71231" y="3913632"/>
            <a:ext cx="282549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1B2B3E"/>
                </a:solidFill>
                <a:latin typeface="Aptos"/>
              </a:rPr>
              <a:t>Denin Thomas Jacob | Python Lab (S3)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71231" y="3877056"/>
            <a:ext cx="281635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>
                <a:solidFill>
                  <a:srgbClr val="1B2B3E"/>
                </a:solidFill>
                <a:latin typeface="Aptos"/>
              </a:rPr>
              <a:t>Sparse solve + linprog
Heatmaps, bar charts, run.py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232" y="4800600"/>
            <a:ext cx="10927080" cy="1069848"/>
          </a:xfrm>
          <a:prstGeom prst="roundRect">
            <a:avLst>
              <a:gd name="adj" fmla="val 12000"/>
            </a:avLst>
          </a:prstGeom>
          <a:solidFill>
            <a:srgbClr val="0F1D30"/>
          </a:solidFill>
          <a:ln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992624"/>
            <a:ext cx="182880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DE5B19"/>
                </a:solidFill>
                <a:latin typeface="Aptos"/>
              </a:rPr>
              <a:t>HANDOFF CHAIN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257800"/>
            <a:ext cx="10378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A (PDE, BCs)  →  B (Z_th check)  →  C (Sparse matrix A)  →  D (q*, T*)  →  E (figures &amp; run.py)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641848"/>
            <a:ext cx="103784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9" b="0">
                <a:solidFill>
                  <a:srgbClr val="CDD8E4"/>
                </a:solidFill>
                <a:latin typeface="Aptos"/>
              </a:rPr>
              <a:t>The LP follows from the discretized physical heat equation; it is not a bolt-on heuristic. Git: feature branches → main.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6473952"/>
            <a:ext cx="8686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B6C7E"/>
                </a:solidFill>
                <a:latin typeface="Aptos"/>
              </a:rPr>
              <a:t>PDEs, Transforms &amp; Optimization Techniques | Problem 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44200" y="6473952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B6C7E"/>
                </a:solidFill>
                <a:latin typeface="Aptos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11480"/>
            <a:ext cx="107899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1B2B3E"/>
                </a:solidFill>
                <a:latin typeface="Georgia"/>
              </a:rPr>
              <a:t>Mathematical Backbone &amp; Verification Criteria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078992"/>
            <a:ext cx="1389888" cy="420624"/>
          </a:xfrm>
          <a:prstGeom prst="rect">
            <a:avLst/>
          </a:prstGeom>
          <a:solidFill>
            <a:srgbClr val="0F1D30"/>
          </a:solidFill>
          <a:ln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1179576"/>
            <a:ext cx="124358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1078992"/>
            <a:ext cx="1417320" cy="420624"/>
          </a:xfrm>
          <a:prstGeom prst="rect">
            <a:avLst/>
          </a:prstGeom>
          <a:solidFill>
            <a:srgbClr val="0F1D30"/>
          </a:solidFill>
          <a:ln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76272" y="1179576"/>
            <a:ext cx="127101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39" y="1078992"/>
            <a:ext cx="4681728" cy="420624"/>
          </a:xfrm>
          <a:prstGeom prst="rect">
            <a:avLst/>
          </a:prstGeom>
          <a:solidFill>
            <a:srgbClr val="0F1D30"/>
          </a:solidFill>
          <a:ln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1" y="1179576"/>
            <a:ext cx="453542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GOVERNING EQUATIONS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2167" y="1078992"/>
            <a:ext cx="3218688" cy="420624"/>
          </a:xfrm>
          <a:prstGeom prst="rect">
            <a:avLst/>
          </a:prstGeom>
          <a:solidFill>
            <a:srgbClr val="0F1D30"/>
          </a:solidFill>
          <a:ln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19" y="1179576"/>
            <a:ext cx="307238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IMPLEMENTATION / VERIFICATION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499616"/>
            <a:ext cx="1389888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591056"/>
            <a:ext cx="1243584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90" b="1">
                <a:solidFill>
                  <a:srgbClr val="1B2B3E"/>
                </a:solidFill>
                <a:latin typeface="Aptos"/>
              </a:rPr>
              <a:t>Field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1499616"/>
            <a:ext cx="1417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76272" y="1591056"/>
            <a:ext cx="1271016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90" b="1">
                <a:solidFill>
                  <a:srgbClr val="1B2B3E"/>
                </a:solidFill>
                <a:latin typeface="Aptos"/>
              </a:rPr>
              <a:t>Vector Calculus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39" y="1499616"/>
            <a:ext cx="4681728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1" y="1591056"/>
            <a:ext cx="4535424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0" b="0">
                <a:solidFill>
                  <a:srgbClr val="1B2B3E"/>
                </a:solidFill>
                <a:latin typeface="Aptos"/>
              </a:rPr>
              <a:t>q = −k∇T;   ∇·q = Q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2167" y="1499616"/>
            <a:ext cx="3218688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591056"/>
            <a:ext cx="3072384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90" b="0">
                <a:solidFill>
                  <a:srgbClr val="1B2B3E"/>
                </a:solidFill>
                <a:latin typeface="Aptos"/>
              </a:rPr>
              <a:t>Continuous heat-flux field through bulk silicon.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1499616"/>
            <a:ext cx="1389888" cy="713232"/>
          </a:xfrm>
          <a:prstGeom prst="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1591056"/>
            <a:ext cx="1243584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90" b="1">
                <a:solidFill>
                  <a:srgbClr val="1B2B3E"/>
                </a:solidFill>
                <a:latin typeface="Aptos"/>
              </a:rPr>
              <a:t>PDEs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1499616"/>
            <a:ext cx="1417320" cy="713232"/>
          </a:xfrm>
          <a:prstGeom prst="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76272" y="1591056"/>
            <a:ext cx="1271016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90" b="1">
                <a:solidFill>
                  <a:srgbClr val="1B2B3E"/>
                </a:solidFill>
                <a:latin typeface="Aptos"/>
              </a:rPr>
              <a:t>PDEs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39" y="1499616"/>
            <a:ext cx="4681728" cy="713232"/>
          </a:xfrm>
          <a:prstGeom prst="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1" y="1591056"/>
            <a:ext cx="4535424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0" b="0">
                <a:solidFill>
                  <a:srgbClr val="1B2B3E"/>
                </a:solidFill>
                <a:latin typeface="Aptos"/>
              </a:rPr>
              <a:t>∇²T(x,y) = −Q(x,y)/k;   T = 300 K on ∂Ω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02167" y="1499616"/>
            <a:ext cx="3218688" cy="713232"/>
          </a:xfrm>
          <a:prstGeom prst="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19" y="1591056"/>
            <a:ext cx="3072384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90" b="0">
                <a:solidFill>
                  <a:srgbClr val="1B2B3E"/>
                </a:solidFill>
                <a:latin typeface="Aptos"/>
              </a:rPr>
              <a:t>2D elliptic boundary-value problem.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1499616"/>
            <a:ext cx="1389888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1591056"/>
            <a:ext cx="1243584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90" b="1">
                <a:solidFill>
                  <a:srgbClr val="1B2B3E"/>
                </a:solidFill>
                <a:latin typeface="Aptos"/>
              </a:rPr>
              <a:t>Transform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1499616"/>
            <a:ext cx="1417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76272" y="1591056"/>
            <a:ext cx="1271016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90" b="1">
                <a:solidFill>
                  <a:srgbClr val="1B2B3E"/>
                </a:solidFill>
                <a:latin typeface="Aptos"/>
              </a:rPr>
              <a:t>Laplace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39" y="1499616"/>
            <a:ext cx="4681728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93591" y="1591056"/>
            <a:ext cx="4535424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0" b="0">
                <a:solidFill>
                  <a:srgbClr val="1B2B3E"/>
                </a:solidFill>
                <a:latin typeface="Aptos"/>
              </a:rPr>
              <a:t>ρcₚsT(s) = k∇²T(s) + Q(s);   Z_th(s)=ΔT(s)/P(s)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02167" y="1499616"/>
            <a:ext cx="3218688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19" y="1591056"/>
            <a:ext cx="3072384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90" b="0">
                <a:solidFill>
                  <a:srgbClr val="1B2B3E"/>
                </a:solidFill>
                <a:latin typeface="Aptos"/>
              </a:rPr>
              <a:t>DC limit s→0 checks steady-state thermal resistance.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" y="1499616"/>
            <a:ext cx="1389888" cy="713232"/>
          </a:xfrm>
          <a:prstGeom prst="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1591056"/>
            <a:ext cx="1243584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90" b="1">
                <a:solidFill>
                  <a:srgbClr val="1B2B3E"/>
                </a:solidFill>
                <a:latin typeface="Aptos"/>
              </a:rPr>
              <a:t>Discretization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1499616"/>
            <a:ext cx="1417320" cy="713232"/>
          </a:xfrm>
          <a:prstGeom prst="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76272" y="1591056"/>
            <a:ext cx="1271016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90" b="1">
                <a:solidFill>
                  <a:srgbClr val="1B2B3E"/>
                </a:solidFill>
                <a:latin typeface="Aptos"/>
              </a:rPr>
              <a:t>Linear Algebra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39" y="1499616"/>
            <a:ext cx="4681728" cy="713232"/>
          </a:xfrm>
          <a:prstGeom prst="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93591" y="1591056"/>
            <a:ext cx="4535424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0" b="0">
                <a:solidFill>
                  <a:srgbClr val="1B2B3E"/>
                </a:solidFill>
                <a:latin typeface="Aptos"/>
              </a:rPr>
              <a:t>(Tᵢ₊₁ⱼ−2Tᵢⱼ+Tᵢ₋₁ⱼ)/h² + (Tᵢⱼ₊₁−2Tᵢⱼ+Tᵢⱼ₋₁)/h² = −Qᵢⱼ/k;  A T=q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02167" y="1499616"/>
            <a:ext cx="3218688" cy="713232"/>
          </a:xfrm>
          <a:prstGeom prst="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19" y="1591056"/>
            <a:ext cx="3072384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90" b="0">
                <a:solidFill>
                  <a:srgbClr val="1B2B3E"/>
                </a:solidFill>
                <a:latin typeface="Aptos"/>
              </a:rPr>
              <a:t>40×40 grid; sparse 5-point stencil / CSR.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" y="1499616"/>
            <a:ext cx="1389888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1591056"/>
            <a:ext cx="1243584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90" b="1">
                <a:solidFill>
                  <a:srgbClr val="1B2B3E"/>
                </a:solidFill>
                <a:latin typeface="Aptos"/>
              </a:rPr>
              <a:t>LP Allocation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3120" y="1499616"/>
            <a:ext cx="1417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76272" y="1591056"/>
            <a:ext cx="1271016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90" b="1">
                <a:solidFill>
                  <a:srgbClr val="1B2B3E"/>
                </a:solidFill>
                <a:latin typeface="Aptos"/>
              </a:rPr>
              <a:t>Optimization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39" y="1499616"/>
            <a:ext cx="4681728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93591" y="1591056"/>
            <a:ext cx="4535424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0" b="0">
                <a:solidFill>
                  <a:srgbClr val="1B2B3E"/>
                </a:solidFill>
                <a:latin typeface="Aptos"/>
              </a:rPr>
              <a:t>min t s.t. A T=q;  Tᵢ≤t;  Σqᵢ≤5 W;  qᵢ≥0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02167" y="1499616"/>
            <a:ext cx="3218688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19" y="1591056"/>
            <a:ext cx="3072384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90" b="0">
                <a:solidFill>
                  <a:srgbClr val="1B2B3E"/>
                </a:solidFill>
                <a:latin typeface="Aptos"/>
              </a:rPr>
              <a:t>Epigraph LP solved with scipy.optimize.linprog / HiGHS.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" y="5285232"/>
            <a:ext cx="10927080" cy="804672"/>
          </a:xfrm>
          <a:prstGeom prst="roundRect">
            <a:avLst>
              <a:gd name="adj" fmla="val 12000"/>
            </a:avLst>
          </a:prstGeom>
          <a:solidFill>
            <a:srgbClr val="0F1D30"/>
          </a:solidFill>
          <a:ln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5431536"/>
            <a:ext cx="14173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DE5B19"/>
                </a:solidFill>
                <a:latin typeface="Aptos"/>
              </a:rPr>
              <a:t>VERIFICATION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93392" y="5404104"/>
            <a:ext cx="930859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Edges remain exactly 300 K  •  max(λ(A_int)) &lt; 0  •  Σqᵢ = 5 W  •  Peak ≈ 343 K uniform → ≈327 K optimal  •  target drop ≥ 5 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" y="6473952"/>
            <a:ext cx="8686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B6C7E"/>
                </a:solidFill>
                <a:latin typeface="Aptos"/>
              </a:rPr>
              <a:t>PDEs, Transforms &amp; Optimization Techniques | Problem 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44200" y="6473952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B6C7E"/>
                </a:solidFill>
                <a:latin typeface="Aptos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11480"/>
            <a:ext cx="107899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1B2B3E"/>
                </a:solidFill>
                <a:latin typeface="Georgia"/>
              </a:rPr>
              <a:t>Tools, Outcomes, Risks &amp; 6-Day Execution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115568"/>
            <a:ext cx="5230368" cy="1938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261872"/>
            <a:ext cx="4864607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1">
                <a:solidFill>
                  <a:srgbClr val="DE5B19"/>
                </a:solidFill>
                <a:latin typeface="Aptos"/>
              </a:rPr>
              <a:t>PYTHON STACK &amp;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91056"/>
            <a:ext cx="48463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25" b="0">
                <a:solidFill>
                  <a:srgbClr val="1B2B3E"/>
                </a:solidFill>
                <a:latin typeface="Aptos"/>
              </a:rPr>
              <a:t>• NumPy — grid coordinates, indexing and array slicing.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65376"/>
            <a:ext cx="48463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25" b="0">
                <a:solidFill>
                  <a:srgbClr val="1B2B3E"/>
                </a:solidFill>
                <a:latin typeface="Aptos"/>
              </a:rPr>
              <a:t>• SciPy — CSR sparse assembly + scipy.optimize.linprog (HiGHS).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39696"/>
            <a:ext cx="48463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25" b="0">
                <a:solidFill>
                  <a:srgbClr val="1B2B3E"/>
                </a:solidFill>
                <a:latin typeface="Aptos"/>
              </a:rPr>
              <a:t>• SymPy — symbolic Laplace transform and s → 0 limits.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14015"/>
            <a:ext cx="48463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25" b="0">
                <a:solidFill>
                  <a:srgbClr val="1B2B3E"/>
                </a:solidFill>
                <a:latin typeface="Aptos"/>
              </a:rPr>
              <a:t>• Matplotlib / Seaborn — thermal maps, allocation bars, P_max sweeps.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88335"/>
            <a:ext cx="48463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25" b="0">
                <a:solidFill>
                  <a:srgbClr val="1B2B3E"/>
                </a:solidFill>
                <a:latin typeface="Aptos"/>
              </a:rPr>
              <a:t>• Git — python run.py regenerates the full figure set in &lt; 2 min.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15568"/>
            <a:ext cx="5230368" cy="1938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61872"/>
            <a:ext cx="4864607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1">
                <a:solidFill>
                  <a:srgbClr val="DE5B19"/>
                </a:solidFill>
                <a:latin typeface="Aptos"/>
              </a:rPr>
              <a:t>EXPECTED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1591056"/>
            <a:ext cx="48463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25" b="0">
                <a:solidFill>
                  <a:srgbClr val="1B2B3E"/>
                </a:solidFill>
                <a:latin typeface="Aptos"/>
              </a:rPr>
              <a:t>• Uniform vs. LP-optimal thermal heatmaps.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865376"/>
            <a:ext cx="48463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25" b="0">
                <a:solidFill>
                  <a:srgbClr val="1B2B3E"/>
                </a:solidFill>
                <a:latin typeface="Aptos"/>
              </a:rPr>
              <a:t>• Power shifted toward better cooling paths.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139696"/>
            <a:ext cx="48463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25" b="0">
                <a:solidFill>
                  <a:srgbClr val="1B2B3E"/>
                </a:solidFill>
                <a:latin typeface="Aptos"/>
              </a:rPr>
              <a:t>• Peak hotspot reduction ≥ 5 K: ~343 K → ~327 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414015"/>
            <a:ext cx="48463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25" b="0">
                <a:solidFill>
                  <a:srgbClr val="1B2B3E"/>
                </a:solidFill>
                <a:latin typeface="Aptos"/>
              </a:rPr>
              <a:t>• linprog returns res.success == True.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688335"/>
            <a:ext cx="48463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25" b="0">
                <a:solidFill>
                  <a:srgbClr val="1B2B3E"/>
                </a:solidFill>
                <a:latin typeface="Aptos"/>
              </a:rPr>
              <a:t>• Σ qᵢ ≤ 5.0 W with qᵢ ≥ 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273552"/>
            <a:ext cx="5230368" cy="1938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419856"/>
            <a:ext cx="4864607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1">
                <a:solidFill>
                  <a:srgbClr val="DE5B19"/>
                </a:solidFill>
                <a:latin typeface="Aptos"/>
              </a:rPr>
              <a:t>RISKS &amp; MITIGATIONS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49039"/>
            <a:ext cx="48463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25" b="0">
                <a:solidFill>
                  <a:srgbClr val="1B2B3E"/>
                </a:solidFill>
                <a:latin typeface="Aptos"/>
              </a:rPr>
              <a:t>• Ill-conditioning → direct sparse solve / preconditioning fallback.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23359"/>
            <a:ext cx="48463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25" b="0">
                <a:solidFill>
                  <a:srgbClr val="1B2B3E"/>
                </a:solidFill>
                <a:latin typeface="Aptos"/>
              </a:rPr>
              <a:t>• Boundary leakage → automated assertions: every edge T == 300 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97679"/>
            <a:ext cx="48463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25" b="0">
                <a:solidFill>
                  <a:srgbClr val="1B2B3E"/>
                </a:solidFill>
                <a:latin typeface="Aptos"/>
              </a:rPr>
              <a:t>• LP infeasibility / solver issue → explicit q ≥ 0 bounds + HiGHS.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71999"/>
            <a:ext cx="48463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25" b="0">
                <a:solidFill>
                  <a:srgbClr val="1B2B3E"/>
                </a:solidFill>
                <a:latin typeface="Aptos"/>
              </a:rPr>
              <a:t>• Interface drift → fixed stage contracts + daily Git merges.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273552"/>
            <a:ext cx="5230368" cy="1938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419856"/>
            <a:ext cx="4864607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1">
                <a:solidFill>
                  <a:srgbClr val="DE5B19"/>
                </a:solidFill>
                <a:latin typeface="Aptos"/>
              </a:rPr>
              <a:t>SIX-DAY EXECUTION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3749039"/>
            <a:ext cx="48463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25" b="0">
                <a:solidFill>
                  <a:srgbClr val="1B2B3E"/>
                </a:solidFill>
                <a:latin typeface="Aptos"/>
              </a:rPr>
              <a:t>• DAY 1 — Stages 1–3 derivation + Git initialization.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4023359"/>
            <a:ext cx="48463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25" b="0">
                <a:solidFill>
                  <a:srgbClr val="1B2B3E"/>
                </a:solidFill>
                <a:latin typeface="Aptos"/>
              </a:rPr>
              <a:t>• DAY 2 — 40×40 FDM matrix, CSR assembly, eigenvalue check.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4297679"/>
            <a:ext cx="48463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25" b="0">
                <a:solidFill>
                  <a:srgbClr val="1B2B3E"/>
                </a:solidFill>
                <a:latin typeface="Aptos"/>
              </a:rPr>
              <a:t>• DAY 3 — Epigraph LP + linprog tests.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571999"/>
            <a:ext cx="48463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25" b="0">
                <a:solidFill>
                  <a:srgbClr val="1B2B3E"/>
                </a:solidFill>
                <a:latin typeface="Aptos"/>
              </a:rPr>
              <a:t>• DAY 4 — End-to-end heatmaps + P_max sweep.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846319"/>
            <a:ext cx="48463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25" b="0">
                <a:solidFill>
                  <a:srgbClr val="1B2B3E"/>
                </a:solidFill>
                <a:latin typeface="Aptos"/>
              </a:rPr>
              <a:t>• DAY 5 — 6-page IEEE report + sanity checklist.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5120639"/>
            <a:ext cx="48463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25" b="0">
                <a:solidFill>
                  <a:srgbClr val="1B2B3E"/>
                </a:solidFill>
                <a:latin typeface="Aptos"/>
              </a:rPr>
              <a:t>• DAY 6 — Clean-machine run.py test + 10-min rehearsal + submission.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5513832"/>
            <a:ext cx="10643616" cy="603504"/>
          </a:xfrm>
          <a:prstGeom prst="roundRect">
            <a:avLst>
              <a:gd name="adj" fmla="val 12000"/>
            </a:avLst>
          </a:prstGeom>
          <a:solidFill>
            <a:srgbClr val="0F1D30"/>
          </a:solidFill>
          <a:ln>
            <a:solidFill>
              <a:srgbClr val="0F1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669280"/>
            <a:ext cx="10195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DELIVERABLES  |  6-page IEEE report  •  Reproducible Git repository  •  Live 10-minute demo  •  Signed pipeline 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6473952"/>
            <a:ext cx="8686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B6C7E"/>
                </a:solidFill>
                <a:latin typeface="Aptos"/>
              </a:rPr>
              <a:t>PDEs, Transforms &amp; Optimization Techniques | Problem 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44200" y="6473952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B6C7E"/>
                </a:solidFill>
                <a:latin typeface="Aptos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